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920240"/>
            <a:ext cx="4754880" cy="4754880"/>
          </a:xfrm>
          <a:prstGeom prst="ellipse">
            <a:avLst/>
          </a:prstGeom>
          <a:solidFill>
            <a:srgbClr val="4FD8C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3566160"/>
            <a:ext cx="2377440" cy="2377440"/>
          </a:xfrm>
          <a:prstGeom prst="ellipse">
            <a:avLst/>
          </a:prstGeom>
          <a:solidFill>
            <a:srgbClr val="E8C874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232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515600" y="6519672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151A24"/>
          </a:solidFill>
          <a:ln w="9525">
            <a:solidFill>
              <a:srgbClr val="4FD8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03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· TECHNOLOGIE WEB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260604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AfriConnect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21792" y="3364992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4FD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Summit</a:t>
            </a:r>
            <a:endParaRPr lang="en-US" sz="5400" dirty="0"/>
          </a:p>
        </p:txBody>
      </p:sp>
      <p:sp>
        <p:nvSpPr>
          <p:cNvPr id="11" name="Shape 9"/>
          <p:cNvSpPr/>
          <p:nvPr/>
        </p:nvSpPr>
        <p:spPr>
          <a:xfrm>
            <a:off x="658368" y="4526280"/>
            <a:ext cx="1005840" cy="0"/>
          </a:xfrm>
          <a:prstGeom prst="line">
            <a:avLst/>
          </a:prstGeom>
          <a:noFill/>
          <a:ln w="28575">
            <a:solidFill>
              <a:srgbClr val="E8C8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6634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vitrine d'une conférence tech panafricaine  ·  Soutenance de projet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Amadou   —   Groupe ISI   —   2026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623560"/>
            <a:ext cx="841248" cy="365760"/>
          </a:xfrm>
          <a:prstGeom prst="roundRect">
            <a:avLst>
              <a:gd name="adj" fmla="val 50000"/>
            </a:avLst>
          </a:prstGeom>
          <a:solidFill>
            <a:srgbClr val="151A24"/>
          </a:solidFill>
          <a:ln w="9525">
            <a:solidFill>
              <a:srgbClr val="232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62356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645920" y="5623560"/>
            <a:ext cx="749808" cy="365760"/>
          </a:xfrm>
          <a:prstGeom prst="roundRect">
            <a:avLst>
              <a:gd name="adj" fmla="val 50000"/>
            </a:avLst>
          </a:prstGeom>
          <a:solidFill>
            <a:srgbClr val="151A24"/>
          </a:solidFill>
          <a:ln w="9525">
            <a:solidFill>
              <a:srgbClr val="232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5623560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0" y="5623560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151A24"/>
          </a:solidFill>
          <a:ln w="9525">
            <a:solidFill>
              <a:srgbClr val="232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562356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23360" y="5623560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151A24"/>
          </a:solidFill>
          <a:ln w="9525">
            <a:solidFill>
              <a:srgbClr val="232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562356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920240"/>
            <a:ext cx="4754880" cy="4754880"/>
          </a:xfrm>
          <a:prstGeom prst="ellipse">
            <a:avLst/>
          </a:prstGeom>
          <a:solidFill>
            <a:srgbClr val="4FD8C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3566160"/>
            <a:ext cx="2377440" cy="2377440"/>
          </a:xfrm>
          <a:prstGeom prst="ellipse">
            <a:avLst/>
          </a:prstGeom>
          <a:solidFill>
            <a:srgbClr val="E8C874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232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480560" y="6519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515600" y="6519672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576072"/>
            <a:ext cx="256032" cy="54864"/>
          </a:xfrm>
          <a:prstGeom prst="rect">
            <a:avLst/>
          </a:prstGeom>
          <a:solidFill>
            <a:srgbClr val="4FD8C4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8686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soutenance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40080" y="14447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 ·  démonstration live incluse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057400"/>
            <a:ext cx="10058400" cy="749808"/>
          </a:xfrm>
          <a:prstGeom prst="roundRect">
            <a:avLst>
              <a:gd name="adj" fmla="val 10976"/>
            </a:avLst>
          </a:prstGeom>
          <a:solidFill>
            <a:srgbClr val="151A24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057400"/>
            <a:ext cx="0" cy="749808"/>
          </a:xfrm>
          <a:prstGeom prst="line">
            <a:avLst/>
          </a:prstGeom>
          <a:noFill/>
          <a:ln w="28575">
            <a:solidFill>
              <a:srgbClr val="4FD8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05740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D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83080" y="213969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783080" y="245973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brief du projet et les technologies imposées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2926080"/>
            <a:ext cx="10058400" cy="749808"/>
          </a:xfrm>
          <a:prstGeom prst="roundRect">
            <a:avLst>
              <a:gd name="adj" fmla="val 10976"/>
            </a:avLst>
          </a:prstGeom>
          <a:solidFill>
            <a:srgbClr val="0E122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2926080"/>
            <a:ext cx="0" cy="749808"/>
          </a:xfrm>
          <a:prstGeom prst="line">
            <a:avLst/>
          </a:prstGeom>
          <a:noFill/>
          <a:ln w="28575">
            <a:solidFill>
              <a:srgbClr val="4FD8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92608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D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783080" y="300837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pages du site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783080" y="332841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Accueil, Programme, Intervenants, Contact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794760"/>
            <a:ext cx="10058400" cy="749808"/>
          </a:xfrm>
          <a:prstGeom prst="roundRect">
            <a:avLst>
              <a:gd name="adj" fmla="val 10976"/>
            </a:avLst>
          </a:prstGeom>
          <a:solidFill>
            <a:srgbClr val="151A24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794760"/>
            <a:ext cx="0" cy="749808"/>
          </a:xfrm>
          <a:prstGeom prst="line">
            <a:avLst/>
          </a:prstGeom>
          <a:noFill/>
          <a:ln w="28575">
            <a:solidFill>
              <a:srgbClr val="4FD8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79476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D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783080" y="387705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JavaScript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783080" y="419709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8 interactivités vanilla implémentées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663440"/>
            <a:ext cx="10058400" cy="749808"/>
          </a:xfrm>
          <a:prstGeom prst="roundRect">
            <a:avLst>
              <a:gd name="adj" fmla="val 10976"/>
            </a:avLst>
          </a:prstGeom>
          <a:solidFill>
            <a:srgbClr val="0E1220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4663440"/>
            <a:ext cx="0" cy="749808"/>
          </a:xfrm>
          <a:prstGeom prst="line">
            <a:avLst/>
          </a:prstGeom>
          <a:noFill/>
          <a:ln w="28575">
            <a:solidFill>
              <a:srgbClr val="4FD8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66344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D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783080" y="474573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techniques clés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1783080" y="506577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je suis capable d'expliquer en détail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5532120"/>
            <a:ext cx="10058400" cy="749808"/>
          </a:xfrm>
          <a:prstGeom prst="roundRect">
            <a:avLst>
              <a:gd name="adj" fmla="val 10976"/>
            </a:avLst>
          </a:prstGeom>
          <a:solidFill>
            <a:srgbClr val="151A24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" y="5532120"/>
            <a:ext cx="0" cy="749808"/>
          </a:xfrm>
          <a:prstGeom prst="line">
            <a:avLst/>
          </a:prstGeom>
          <a:noFill/>
          <a:ln w="28575">
            <a:solidFill>
              <a:srgbClr val="4FD8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53212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D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783080" y="561441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1783080" y="593445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en direct sur le site déployé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206240" cy="4206240"/>
          </a:xfrm>
          <a:prstGeom prst="ellipse">
            <a:avLst/>
          </a:prstGeom>
          <a:solidFill>
            <a:srgbClr val="4FD8C4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E8C874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232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480560" y="6519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515600" y="6519672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576072"/>
            <a:ext cx="256032" cy="54864"/>
          </a:xfrm>
          <a:prstGeom prst="rect">
            <a:avLst/>
          </a:prstGeom>
          <a:solidFill>
            <a:srgbClr val="4FD8C4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vitrine web pour une conférence tech africaine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640080" y="178308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51A24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1993392"/>
            <a:ext cx="0" cy="822960"/>
          </a:xfrm>
          <a:prstGeom prst="line">
            <a:avLst/>
          </a:prstGeom>
          <a:noFill/>
          <a:ln w="31750">
            <a:solidFill>
              <a:srgbClr val="E8C8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87452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L'Afrique francophone accueille chaque année de nombreux événements tech, mais peu ont une présence web à la hauteur de leur ambition. Mission : concevoir le site vitrine complet d'AfriConnect Summit — moderne, responsive et entièrement fonctionnel.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IMPOSÉES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2587752" cy="1965960"/>
          </a:xfrm>
          <a:prstGeom prst="roundRect">
            <a:avLst>
              <a:gd name="adj" fmla="val 4651"/>
            </a:avLst>
          </a:prstGeom>
          <a:solidFill>
            <a:srgbClr val="151A2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" y="391363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E1220"/>
          </a:solidFill>
          <a:ln w="12700">
            <a:solidFill>
              <a:srgbClr val="E8C8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8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434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4800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sémantique, hiérarchie des titres, accessibilité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10712" y="3703320"/>
            <a:ext cx="2587752" cy="1965960"/>
          </a:xfrm>
          <a:prstGeom prst="roundRect">
            <a:avLst>
              <a:gd name="adj" fmla="val 4651"/>
            </a:avLst>
          </a:prstGeom>
          <a:solidFill>
            <a:srgbClr val="151A24"/>
          </a:solidFill>
          <a:ln/>
        </p:spPr>
      </p:sp>
      <p:sp>
        <p:nvSpPr>
          <p:cNvPr id="21" name="Shape 19"/>
          <p:cNvSpPr/>
          <p:nvPr/>
        </p:nvSpPr>
        <p:spPr>
          <a:xfrm>
            <a:off x="3611880" y="391363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E1220"/>
          </a:solidFill>
          <a:ln w="12700">
            <a:solidFill>
              <a:srgbClr val="E8C8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8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4434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11880" y="4800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Flexbox, Grid, variables CSS, animations, media queries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81344" y="3703320"/>
            <a:ext cx="2587752" cy="1965960"/>
          </a:xfrm>
          <a:prstGeom prst="roundRect">
            <a:avLst>
              <a:gd name="adj" fmla="val 4651"/>
            </a:avLst>
          </a:prstGeom>
          <a:solidFill>
            <a:srgbClr val="151A24"/>
          </a:solidFill>
          <a:ln/>
        </p:spPr>
      </p:sp>
      <p:sp>
        <p:nvSpPr>
          <p:cNvPr id="26" name="Shape 24"/>
          <p:cNvSpPr/>
          <p:nvPr/>
        </p:nvSpPr>
        <p:spPr>
          <a:xfrm>
            <a:off x="6382512" y="391363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E1220"/>
          </a:solidFill>
          <a:ln w="12700">
            <a:solidFill>
              <a:srgbClr val="E8C87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8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82512" y="4434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Vanilla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82512" y="4800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DOM, événements, IntersectionObserver, localStorage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951976" y="3703320"/>
            <a:ext cx="2587752" cy="1965960"/>
          </a:xfrm>
          <a:prstGeom prst="roundRect">
            <a:avLst>
              <a:gd name="adj" fmla="val 4651"/>
            </a:avLst>
          </a:prstGeom>
          <a:solidFill>
            <a:srgbClr val="151A24"/>
          </a:solidFill>
          <a:ln/>
        </p:spPr>
      </p:sp>
      <p:sp>
        <p:nvSpPr>
          <p:cNvPr id="31" name="Shape 29"/>
          <p:cNvSpPr/>
          <p:nvPr/>
        </p:nvSpPr>
        <p:spPr>
          <a:xfrm>
            <a:off x="9153144" y="391363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E1220"/>
          </a:solidFill>
          <a:ln w="12700">
            <a:solidFill>
              <a:srgbClr val="E8C8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53144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8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53144" y="4434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53144" y="4800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réguliers, déploiement GitHub Pages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920240"/>
            <a:ext cx="4754880" cy="4754880"/>
          </a:xfrm>
          <a:prstGeom prst="ellipse">
            <a:avLst/>
          </a:prstGeom>
          <a:solidFill>
            <a:srgbClr val="4FD8C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3566160"/>
            <a:ext cx="2377440" cy="2377440"/>
          </a:xfrm>
          <a:prstGeom prst="ellipse">
            <a:avLst/>
          </a:prstGeom>
          <a:solidFill>
            <a:srgbClr val="E8C874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232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480560" y="6519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/ 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515600" y="6519672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576072"/>
            <a:ext cx="256032" cy="54864"/>
          </a:xfrm>
          <a:prstGeom prst="rect">
            <a:avLst/>
          </a:prstGeom>
          <a:solidFill>
            <a:srgbClr val="4FD8C4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/ 4 — INDEX.HTML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8686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Accueil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4008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premier contact avec l'événement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20370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4FD8C4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2075688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fixe, toggle Dark/Light, menu hamburger mobile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7706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4FD8C4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2642616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plein écran + compte à rebours JS en temps réel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4FD8C4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3209544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statistiques en CSS Grid, compteurs animés au scroll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90448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4FD8C4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3776472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arguments "Pourquoi participer" en Flexbox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47141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4FD8C4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4343400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Intervenants vedettes + 3 niveaux de sponsors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18504" y="2112264"/>
            <a:ext cx="5193792" cy="3319272"/>
          </a:xfrm>
          <a:prstGeom prst="roundRect">
            <a:avLst>
              <a:gd name="adj" fmla="val 2204"/>
            </a:avLst>
          </a:prstGeom>
          <a:solidFill>
            <a:srgbClr val="1A2130"/>
          </a:solidFill>
          <a:ln/>
        </p:spPr>
      </p:sp>
      <p:sp>
        <p:nvSpPr>
          <p:cNvPr id="23" name="Shape 21"/>
          <p:cNvSpPr/>
          <p:nvPr/>
        </p:nvSpPr>
        <p:spPr>
          <a:xfrm>
            <a:off x="6355080" y="2148840"/>
            <a:ext cx="512064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63500" dir="5400000">
              <a:srgbClr val="000000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55080" y="214884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1D2330"/>
          </a:solidFill>
          <a:ln/>
        </p:spPr>
      </p:sp>
      <p:sp>
        <p:nvSpPr>
          <p:cNvPr id="25" name="Shape 23"/>
          <p:cNvSpPr/>
          <p:nvPr/>
        </p:nvSpPr>
        <p:spPr>
          <a:xfrm>
            <a:off x="6355080" y="2294230"/>
            <a:ext cx="5120640" cy="146304"/>
          </a:xfrm>
          <a:prstGeom prst="rect">
            <a:avLst/>
          </a:prstGeom>
          <a:solidFill>
            <a:srgbClr val="1D233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3096" y="2253996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7" name="Shape 25"/>
          <p:cNvSpPr/>
          <p:nvPr/>
        </p:nvSpPr>
        <p:spPr>
          <a:xfrm>
            <a:off x="6665976" y="2253996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8" name="Shape 26"/>
          <p:cNvSpPr/>
          <p:nvPr/>
        </p:nvSpPr>
        <p:spPr>
          <a:xfrm>
            <a:off x="6848856" y="2253996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29" name="Image 0" descr="/home/claude/africonnect_ppt/img_accue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2441448"/>
            <a:ext cx="5120640" cy="295351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355080" y="5486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— Accueil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206240" cy="4206240"/>
          </a:xfrm>
          <a:prstGeom prst="ellipse">
            <a:avLst/>
          </a:prstGeom>
          <a:solidFill>
            <a:srgbClr val="4FD8C4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E8C874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232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480560" y="6519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2-3 / 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515600" y="6519672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576072"/>
            <a:ext cx="256032" cy="54864"/>
          </a:xfrm>
          <a:prstGeom prst="rect">
            <a:avLst/>
          </a:prstGeom>
          <a:solidFill>
            <a:srgbClr val="4FD8C4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2 &amp; 3 / 4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8686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 &amp; Intervenants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640080" y="1737360"/>
            <a:ext cx="5120640" cy="384048"/>
          </a:xfrm>
          <a:prstGeom prst="roundRect">
            <a:avLst>
              <a:gd name="adj" fmla="val 19048"/>
            </a:avLst>
          </a:prstGeom>
          <a:solidFill>
            <a:srgbClr val="151A2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7373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C8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programme.html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3408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4FD8C4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2212848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onglets Jour 1/2/3 en JS, sans rechargement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798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4FD8C4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2670048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stylisé : Heure · Session · Intervenant · Salle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2552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4FD8C4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3127248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thématiques en Grid 2×2, animées au scroll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1737360"/>
            <a:ext cx="5120640" cy="384048"/>
          </a:xfrm>
          <a:prstGeom prst="roundRect">
            <a:avLst>
              <a:gd name="adj" fmla="val 19048"/>
            </a:avLst>
          </a:prstGeom>
          <a:solidFill>
            <a:srgbClr val="151A2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7373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C8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intervenants.html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35040" y="23408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4FD8C4"/>
          </a:solidFill>
          <a:ln/>
        </p:spPr>
      </p:sp>
      <p:sp>
        <p:nvSpPr>
          <p:cNvPr id="22" name="Text 20"/>
          <p:cNvSpPr/>
          <p:nvPr/>
        </p:nvSpPr>
        <p:spPr>
          <a:xfrm>
            <a:off x="6327648" y="2212848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dynamique par thématique, sans reload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2798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4FD8C4"/>
          </a:solidFill>
          <a:ln/>
        </p:spPr>
      </p:sp>
      <p:sp>
        <p:nvSpPr>
          <p:cNvPr id="24" name="Text 22"/>
          <p:cNvSpPr/>
          <p:nvPr/>
        </p:nvSpPr>
        <p:spPr>
          <a:xfrm>
            <a:off x="6327648" y="2670048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intervenants en Grid responsive (3 / 2 / 1 col.)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35040" y="32552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4FD8C4"/>
          </a:solidFill>
          <a:ln/>
        </p:spPr>
      </p:sp>
      <p:sp>
        <p:nvSpPr>
          <p:cNvPr id="26" name="Text 24"/>
          <p:cNvSpPr/>
          <p:nvPr/>
        </p:nvSpPr>
        <p:spPr>
          <a:xfrm>
            <a:off x="6327648" y="3127248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hover : ombre + translation sur les cartes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3504" y="3849624"/>
            <a:ext cx="5193792" cy="2194560"/>
          </a:xfrm>
          <a:prstGeom prst="roundRect">
            <a:avLst>
              <a:gd name="adj" fmla="val 3333"/>
            </a:avLst>
          </a:prstGeom>
          <a:solidFill>
            <a:srgbClr val="1A2130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3886200"/>
            <a:ext cx="512064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63500" dir="5400000">
              <a:srgbClr val="00000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38862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1D2330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4031590"/>
            <a:ext cx="5120640" cy="146304"/>
          </a:xfrm>
          <a:prstGeom prst="rect">
            <a:avLst/>
          </a:prstGeom>
          <a:solidFill>
            <a:srgbClr val="1D2330"/>
          </a:solidFill>
          <a:ln/>
        </p:spPr>
      </p:sp>
      <p:sp>
        <p:nvSpPr>
          <p:cNvPr id="31" name="Shape 29"/>
          <p:cNvSpPr/>
          <p:nvPr/>
        </p:nvSpPr>
        <p:spPr>
          <a:xfrm>
            <a:off x="768096" y="3991356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2" name="Shape 30"/>
          <p:cNvSpPr/>
          <p:nvPr/>
        </p:nvSpPr>
        <p:spPr>
          <a:xfrm>
            <a:off x="950976" y="3991356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3" name="Shape 31"/>
          <p:cNvSpPr/>
          <p:nvPr/>
        </p:nvSpPr>
        <p:spPr>
          <a:xfrm>
            <a:off x="1133856" y="3991356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34" name="Image 0" descr="/home/claude/africonnect_ppt/img_program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4178808"/>
            <a:ext cx="5120640" cy="18288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640080" y="60990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programme.html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998464" y="3849624"/>
            <a:ext cx="5193792" cy="2194560"/>
          </a:xfrm>
          <a:prstGeom prst="roundRect">
            <a:avLst>
              <a:gd name="adj" fmla="val 3333"/>
            </a:avLst>
          </a:prstGeom>
          <a:solidFill>
            <a:srgbClr val="1A2130"/>
          </a:solidFill>
          <a:ln/>
        </p:spPr>
      </p:sp>
      <p:sp>
        <p:nvSpPr>
          <p:cNvPr id="37" name="Shape 34"/>
          <p:cNvSpPr/>
          <p:nvPr/>
        </p:nvSpPr>
        <p:spPr>
          <a:xfrm>
            <a:off x="6035040" y="3886200"/>
            <a:ext cx="512064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63500" dir="5400000">
              <a:srgbClr val="000000">
                <a:alpha val="5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035040" y="38862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1D2330"/>
          </a:solidFill>
          <a:ln/>
        </p:spPr>
      </p:sp>
      <p:sp>
        <p:nvSpPr>
          <p:cNvPr id="39" name="Shape 36"/>
          <p:cNvSpPr/>
          <p:nvPr/>
        </p:nvSpPr>
        <p:spPr>
          <a:xfrm>
            <a:off x="6035040" y="4031590"/>
            <a:ext cx="5120640" cy="146304"/>
          </a:xfrm>
          <a:prstGeom prst="rect">
            <a:avLst/>
          </a:prstGeom>
          <a:solidFill>
            <a:srgbClr val="1D2330"/>
          </a:solidFill>
          <a:ln/>
        </p:spPr>
      </p:sp>
      <p:sp>
        <p:nvSpPr>
          <p:cNvPr id="40" name="Shape 37"/>
          <p:cNvSpPr/>
          <p:nvPr/>
        </p:nvSpPr>
        <p:spPr>
          <a:xfrm>
            <a:off x="6163056" y="3991356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41" name="Shape 38"/>
          <p:cNvSpPr/>
          <p:nvPr/>
        </p:nvSpPr>
        <p:spPr>
          <a:xfrm>
            <a:off x="6345936" y="3991356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42" name="Shape 39"/>
          <p:cNvSpPr/>
          <p:nvPr/>
        </p:nvSpPr>
        <p:spPr>
          <a:xfrm>
            <a:off x="6528816" y="3991356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43" name="Image 1" descr="/home/claude/africonnect_ppt/img_intervenan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35040" y="4178808"/>
            <a:ext cx="5120640" cy="1828800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6035040" y="60990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intervenants.html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920240"/>
            <a:ext cx="4754880" cy="4754880"/>
          </a:xfrm>
          <a:prstGeom prst="ellipse">
            <a:avLst/>
          </a:prstGeom>
          <a:solidFill>
            <a:srgbClr val="4FD8C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3566160"/>
            <a:ext cx="2377440" cy="2377440"/>
          </a:xfrm>
          <a:prstGeom prst="ellipse">
            <a:avLst/>
          </a:prstGeom>
          <a:solidFill>
            <a:srgbClr val="E8C874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232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480560" y="6519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/ 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515600" y="6519672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576072"/>
            <a:ext cx="256032" cy="54864"/>
          </a:xfrm>
          <a:prstGeom prst="rect">
            <a:avLst/>
          </a:prstGeom>
          <a:solidFill>
            <a:srgbClr val="4FD8C4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/ 4 — CONTACT.HTML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8686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Inscription &amp; Contact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4008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 de conversion du site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20370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4FD8C4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2075688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2 col. : nom, email, téléphone, type, pays, message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77063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4FD8C4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2642616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JS : regex email, tél. ≥ 8 chiffres, message ≥ 20 car.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4FD8C4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3209544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visuel par champ (bordure rouge/verte + erreur)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90448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4FD8C4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3776472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en accordéon CSS pur (:checked), sans JavaScript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47141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4FD8C4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4343400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Google Maps intégrée en iframe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18504" y="2112264"/>
            <a:ext cx="5193792" cy="3319272"/>
          </a:xfrm>
          <a:prstGeom prst="roundRect">
            <a:avLst>
              <a:gd name="adj" fmla="val 2204"/>
            </a:avLst>
          </a:prstGeom>
          <a:solidFill>
            <a:srgbClr val="1A2130"/>
          </a:solidFill>
          <a:ln/>
        </p:spPr>
      </p:sp>
      <p:sp>
        <p:nvSpPr>
          <p:cNvPr id="23" name="Shape 21"/>
          <p:cNvSpPr/>
          <p:nvPr/>
        </p:nvSpPr>
        <p:spPr>
          <a:xfrm>
            <a:off x="6355080" y="2148840"/>
            <a:ext cx="512064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63500" dir="5400000">
              <a:srgbClr val="000000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55080" y="214884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1D2330"/>
          </a:solidFill>
          <a:ln/>
        </p:spPr>
      </p:sp>
      <p:sp>
        <p:nvSpPr>
          <p:cNvPr id="25" name="Shape 23"/>
          <p:cNvSpPr/>
          <p:nvPr/>
        </p:nvSpPr>
        <p:spPr>
          <a:xfrm>
            <a:off x="6355080" y="2294230"/>
            <a:ext cx="5120640" cy="146304"/>
          </a:xfrm>
          <a:prstGeom prst="rect">
            <a:avLst/>
          </a:prstGeom>
          <a:solidFill>
            <a:srgbClr val="1D233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3096" y="2253996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7" name="Shape 25"/>
          <p:cNvSpPr/>
          <p:nvPr/>
        </p:nvSpPr>
        <p:spPr>
          <a:xfrm>
            <a:off x="6665976" y="2253996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8" name="Shape 26"/>
          <p:cNvSpPr/>
          <p:nvPr/>
        </p:nvSpPr>
        <p:spPr>
          <a:xfrm>
            <a:off x="6848856" y="2253996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29" name="Image 0" descr="/home/claude/africonnect_ppt/img_conta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2441448"/>
            <a:ext cx="5120640" cy="295351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355080" y="5486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contact.html — Inscription &amp; Contact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206240" cy="4206240"/>
          </a:xfrm>
          <a:prstGeom prst="ellipse">
            <a:avLst/>
          </a:prstGeom>
          <a:solidFill>
            <a:srgbClr val="4FD8C4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E8C874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232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480560" y="6519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515600" y="6519672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576072"/>
            <a:ext cx="256032" cy="54864"/>
          </a:xfrm>
          <a:prstGeom prst="rect">
            <a:avLst/>
          </a:prstGeom>
          <a:solidFill>
            <a:srgbClr val="4FD8C4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VANILLA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8686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fonctionnalités interactives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4008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framework, aucune librairie — DOM pur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057400"/>
            <a:ext cx="5257800" cy="676656"/>
          </a:xfrm>
          <a:prstGeom prst="roundRect">
            <a:avLst>
              <a:gd name="adj" fmla="val 12162"/>
            </a:avLst>
          </a:prstGeom>
          <a:solidFill>
            <a:srgbClr val="151A24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" y="219456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E1220"/>
          </a:solidFill>
          <a:ln w="12700">
            <a:solidFill>
              <a:srgbClr val="4FD8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2057400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Mode persistant (localStorage)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2898648"/>
            <a:ext cx="5257800" cy="676656"/>
          </a:xfrm>
          <a:prstGeom prst="roundRect">
            <a:avLst>
              <a:gd name="adj" fmla="val 12162"/>
            </a:avLst>
          </a:prstGeom>
          <a:solidFill>
            <a:srgbClr val="151A24"/>
          </a:solidFill>
          <a:ln/>
        </p:spPr>
      </p:sp>
      <p:sp>
        <p:nvSpPr>
          <p:cNvPr id="17" name="Shape 15"/>
          <p:cNvSpPr/>
          <p:nvPr/>
        </p:nvSpPr>
        <p:spPr>
          <a:xfrm>
            <a:off x="768096" y="303580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E1220"/>
          </a:solidFill>
          <a:ln w="12700">
            <a:solidFill>
              <a:srgbClr val="4FD8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2898648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dynamique + menu hamburger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739896"/>
            <a:ext cx="5257800" cy="676656"/>
          </a:xfrm>
          <a:prstGeom prst="roundRect">
            <a:avLst>
              <a:gd name="adj" fmla="val 12162"/>
            </a:avLst>
          </a:prstGeom>
          <a:solidFill>
            <a:srgbClr val="151A24"/>
          </a:solidFill>
          <a:ln/>
        </p:spPr>
      </p:sp>
      <p:sp>
        <p:nvSpPr>
          <p:cNvPr id="21" name="Shape 19"/>
          <p:cNvSpPr/>
          <p:nvPr/>
        </p:nvSpPr>
        <p:spPr>
          <a:xfrm>
            <a:off x="768096" y="387705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E1220"/>
          </a:solidFill>
          <a:ln w="12700">
            <a:solidFill>
              <a:srgbClr val="4FD8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877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3739896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au scroll (IntersectionObserver)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581144"/>
            <a:ext cx="5257800" cy="676656"/>
          </a:xfrm>
          <a:prstGeom prst="roundRect">
            <a:avLst>
              <a:gd name="adj" fmla="val 12162"/>
            </a:avLst>
          </a:prstGeom>
          <a:solidFill>
            <a:srgbClr val="151A24"/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" y="471830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E1220"/>
          </a:solidFill>
          <a:ln w="12700">
            <a:solidFill>
              <a:srgbClr val="4FD8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4718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98448" y="4581144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Onglets du programme (3 jours)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72200" y="2057400"/>
            <a:ext cx="5257800" cy="676656"/>
          </a:xfrm>
          <a:prstGeom prst="roundRect">
            <a:avLst>
              <a:gd name="adj" fmla="val 12162"/>
            </a:avLst>
          </a:prstGeom>
          <a:solidFill>
            <a:srgbClr val="151A24"/>
          </a:solidFill>
          <a:ln/>
        </p:spPr>
      </p:sp>
      <p:sp>
        <p:nvSpPr>
          <p:cNvPr id="29" name="Shape 27"/>
          <p:cNvSpPr/>
          <p:nvPr/>
        </p:nvSpPr>
        <p:spPr>
          <a:xfrm>
            <a:off x="6300216" y="219456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E1220"/>
          </a:solidFill>
          <a:ln w="12700">
            <a:solidFill>
              <a:srgbClr val="4FD8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0216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830568" y="2057400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dynamique des intervenants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72200" y="2898648"/>
            <a:ext cx="5257800" cy="676656"/>
          </a:xfrm>
          <a:prstGeom prst="roundRect">
            <a:avLst>
              <a:gd name="adj" fmla="val 12162"/>
            </a:avLst>
          </a:prstGeom>
          <a:solidFill>
            <a:srgbClr val="151A24"/>
          </a:solidFill>
          <a:ln/>
        </p:spPr>
      </p:sp>
      <p:sp>
        <p:nvSpPr>
          <p:cNvPr id="33" name="Shape 31"/>
          <p:cNvSpPr/>
          <p:nvPr/>
        </p:nvSpPr>
        <p:spPr>
          <a:xfrm>
            <a:off x="6300216" y="303580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E1220"/>
          </a:solidFill>
          <a:ln w="12700">
            <a:solidFill>
              <a:srgbClr val="4FD8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0216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830568" y="2898648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complète du formulaire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172200" y="3739896"/>
            <a:ext cx="5257800" cy="676656"/>
          </a:xfrm>
          <a:prstGeom prst="roundRect">
            <a:avLst>
              <a:gd name="adj" fmla="val 12162"/>
            </a:avLst>
          </a:prstGeom>
          <a:solidFill>
            <a:srgbClr val="151A24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0216" y="387705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E1220"/>
          </a:solidFill>
          <a:ln w="12700">
            <a:solidFill>
              <a:srgbClr val="4FD8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0216" y="3877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830568" y="3739896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retour en haut (scroll smooth)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172200" y="4581144"/>
            <a:ext cx="5257800" cy="676656"/>
          </a:xfrm>
          <a:prstGeom prst="roundRect">
            <a:avLst>
              <a:gd name="adj" fmla="val 12162"/>
            </a:avLst>
          </a:prstGeom>
          <a:solidFill>
            <a:srgbClr val="151A24"/>
          </a:solidFill>
          <a:ln/>
        </p:spPr>
      </p:sp>
      <p:sp>
        <p:nvSpPr>
          <p:cNvPr id="41" name="Shape 39"/>
          <p:cNvSpPr/>
          <p:nvPr/>
        </p:nvSpPr>
        <p:spPr>
          <a:xfrm>
            <a:off x="6300216" y="471830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E1220"/>
          </a:solidFill>
          <a:ln w="12700">
            <a:solidFill>
              <a:srgbClr val="4FD8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0216" y="4718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830568" y="4581144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dynamique dans le footer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920240"/>
            <a:ext cx="4754880" cy="4754880"/>
          </a:xfrm>
          <a:prstGeom prst="ellipse">
            <a:avLst/>
          </a:prstGeom>
          <a:solidFill>
            <a:srgbClr val="4FD8C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3566160"/>
            <a:ext cx="2377440" cy="2377440"/>
          </a:xfrm>
          <a:prstGeom prst="ellipse">
            <a:avLst/>
          </a:prstGeom>
          <a:solidFill>
            <a:srgbClr val="E8C874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232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480560" y="6519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515600" y="6519672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576072"/>
            <a:ext cx="256032" cy="54864"/>
          </a:xfrm>
          <a:prstGeom prst="rect">
            <a:avLst/>
          </a:prstGeom>
          <a:solidFill>
            <a:srgbClr val="4FD8C4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je peux expliquer en détail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10881360" cy="1298448"/>
          </a:xfrm>
          <a:prstGeom prst="roundRect">
            <a:avLst>
              <a:gd name="adj" fmla="val 7042"/>
            </a:avLst>
          </a:prstGeom>
          <a:solidFill>
            <a:srgbClr val="151A2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874520"/>
            <a:ext cx="822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C8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691640" y="2039112"/>
            <a:ext cx="0" cy="969264"/>
          </a:xfrm>
          <a:prstGeom prst="line">
            <a:avLst/>
          </a:prstGeom>
          <a:noFill/>
          <a:ln w="12700">
            <a:solidFill>
              <a:srgbClr val="23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00253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via variables CSS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920240" y="2359152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thème repose sur des custom properties dans :root et [data-theme="dark"]. Le JS ne fait que basculer l'attribut sur &lt;html&gt; et sauvegarde le choix dans localStorage — persistant entre les pages.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10881360" cy="1298448"/>
          </a:xfrm>
          <a:prstGeom prst="roundRect">
            <a:avLst>
              <a:gd name="adj" fmla="val 7042"/>
            </a:avLst>
          </a:prstGeom>
          <a:solidFill>
            <a:srgbClr val="151A24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337560"/>
            <a:ext cx="822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C8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1691640" y="3502152"/>
            <a:ext cx="0" cy="969264"/>
          </a:xfrm>
          <a:prstGeom prst="line">
            <a:avLst/>
          </a:prstGeom>
          <a:noFill/>
          <a:ln w="12700">
            <a:solidFill>
              <a:srgbClr val="232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346557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au scroll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920240" y="3822192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Plutôt que d'écouter le scroll en continu (coûteux), un IntersectionObserver détecte l'entrée d'une section dans le viewport et déclenche l'animation une seule fois.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800600"/>
            <a:ext cx="10881360" cy="1298448"/>
          </a:xfrm>
          <a:prstGeom prst="roundRect">
            <a:avLst>
              <a:gd name="adj" fmla="val 7042"/>
            </a:avLst>
          </a:prstGeom>
          <a:solidFill>
            <a:srgbClr val="151A24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00600"/>
            <a:ext cx="822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C8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1691640" y="4965192"/>
            <a:ext cx="0" cy="969264"/>
          </a:xfrm>
          <a:prstGeom prst="line">
            <a:avLst/>
          </a:prstGeom>
          <a:noFill/>
          <a:ln w="12700">
            <a:solidFill>
              <a:srgbClr val="232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492861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sans framework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920240" y="5285232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cartes intervenants sont filtrées en JS pur via style.display, selon un attribut data-categorie comparé au bouton actif — aucun rechargement de page.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206240" cy="4206240"/>
          </a:xfrm>
          <a:prstGeom prst="ellipse">
            <a:avLst/>
          </a:prstGeom>
          <a:solidFill>
            <a:srgbClr val="4FD8C4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E8C874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232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480560" y="6519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515600" y="6519672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576072"/>
            <a:ext cx="256032" cy="54864"/>
          </a:xfrm>
          <a:prstGeom prst="rect">
            <a:avLst/>
          </a:prstGeom>
          <a:solidFill>
            <a:srgbClr val="4FD8C4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 à la démo live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en direct sur le site déployé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51A24"/>
          </a:solidFill>
          <a:ln w="9525">
            <a:solidFill>
              <a:srgbClr val="4FD8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07238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0E1220"/>
          </a:solidFill>
          <a:ln w="12700">
            <a:solidFill>
              <a:srgbClr val="4FD8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2999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17320" y="32461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https://aba393411-droid.github.io/BA-Amadou-AfriConnectSummit/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7947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51A24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398678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0E1220"/>
          </a:solidFill>
          <a:ln w="12700">
            <a:solidFill>
              <a:srgbClr val="E8C8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3913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C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GITHUB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417320" y="41605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https://github.com/aba393411-droid/BA-Amadou-AfriConnectSummit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suggéré : Accueil (dark mode + countdown) → Programme (onglets) → Intervenants (filtres) → Contact (validation + FAQ)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206240"/>
            <a:ext cx="4754880" cy="4754880"/>
          </a:xfrm>
          <a:prstGeom prst="ellipse">
            <a:avLst/>
          </a:prstGeom>
          <a:solidFill>
            <a:srgbClr val="4FD8C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-1463040"/>
            <a:ext cx="2377440" cy="2377440"/>
          </a:xfrm>
          <a:prstGeom prst="ellipse">
            <a:avLst/>
          </a:prstGeom>
          <a:solidFill>
            <a:srgbClr val="E8C874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73952"/>
            <a:ext cx="10908792" cy="0"/>
          </a:xfrm>
          <a:prstGeom prst="line">
            <a:avLst/>
          </a:prstGeom>
          <a:noFill/>
          <a:ln w="9525">
            <a:solidFill>
              <a:srgbClr val="232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515600" y="6519672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28803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questions ?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658368" y="3794760"/>
            <a:ext cx="1005840" cy="0"/>
          </a:xfrm>
          <a:prstGeom prst="line">
            <a:avLst/>
          </a:prstGeom>
          <a:noFill/>
          <a:ln w="28575">
            <a:solidFill>
              <a:srgbClr val="E8C8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Amadou  ·  AfriConnect Summit  ·  Groupe ISI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2026-07-28T19:03:51Z</dcterms:created>
  <dcterms:modified xsi:type="dcterms:W3CDTF">2026-07-28T19:03:51Z</dcterms:modified>
</cp:coreProperties>
</file>